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13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39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4DE7"/>
          </a:solidFill>
          <a:ln w="12700">
            <a:solidFill>
              <a:srgbClr val="1E63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78C"/>
                </a:solidFill>
              </a:rPr>
              <a:t>Итоговый проект · Зерокодер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50976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</a:rPr>
              <a:t>Анатолий Музеник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4155"/>
                </a:solidFill>
                <a:latin typeface="Arial" panose="020B0604020202020204" pitchFamily="34" charset="0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AUQNI brand logo">
            <a:extLst>
              <a:ext uri="{FF2B5EF4-FFF2-40B4-BE49-F238E27FC236}">
                <a16:creationId xmlns:a16="http://schemas.microsoft.com/office/drawing/2014/main" id="{854A8ACD-AA98-48B4-8851-FC9BE7A99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9200" y="203200"/>
            <a:ext cx="1536700" cy="43165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github.com/anatolymuzenik-ops/auqni-content-factory" TargetMode="External"/><Relationship Id="rId5" Type="http://schemas.openxmlformats.org/officeDocument/2006/relationships/hyperlink" Target="https://auqni.ru/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673100"/>
            <a:ext cx="53975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234DE7"/>
                </a:solidFill>
                <a:latin typeface="Arial" panose="020B0604020202020204" pitchFamily="34" charset="0"/>
              </a:rPr>
              <a:t>Итоговый проект </a:t>
            </a:r>
            <a:endParaRPr lang="en-US" sz="3600" b="1" dirty="0">
              <a:solidFill>
                <a:srgbClr val="234DE7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3100" y="1473200"/>
            <a:ext cx="571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800" b="1" dirty="0">
                <a:solidFill>
                  <a:srgbClr val="0D1644"/>
                </a:solidFill>
                <a:latin typeface="Arial" panose="020B0604020202020204" pitchFamily="34" charset="0"/>
              </a:rPr>
              <a:t>Контент-завод </a:t>
            </a:r>
            <a:r>
              <a:rPr lang="en-US" sz="3800" b="1" dirty="0">
                <a:solidFill>
                  <a:srgbClr val="0D1644"/>
                </a:solidFill>
                <a:latin typeface="Arial" panose="020B0604020202020204" pitchFamily="34" charset="0"/>
              </a:rPr>
              <a:t>AUQNI</a:t>
            </a:r>
          </a:p>
        </p:txBody>
      </p:sp>
      <p:sp>
        <p:nvSpPr>
          <p:cNvPr id="5" name="Text 3"/>
          <p:cNvSpPr/>
          <p:nvPr/>
        </p:nvSpPr>
        <p:spPr>
          <a:xfrm>
            <a:off x="676656" y="29443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rial" panose="020B0604020202020204" pitchFamily="34" charset="0"/>
              </a:rPr>
              <a:t>24/7 AI-конвейер подготовки и публикации профессионального контента</a:t>
            </a:r>
          </a:p>
        </p:txBody>
      </p:sp>
      <p:sp>
        <p:nvSpPr>
          <p:cNvPr id="6" name="Text 4"/>
          <p:cNvSpPr/>
          <p:nvPr/>
        </p:nvSpPr>
        <p:spPr>
          <a:xfrm>
            <a:off x="685800" y="4069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4DE7"/>
                </a:solidFill>
                <a:latin typeface="Arial" panose="020B0604020202020204" pitchFamily="34" charset="0"/>
              </a:rPr>
              <a:t>Тема → план → текст и изображение → версия → «Принято» → Telegram</a:t>
            </a:r>
            <a:endParaRPr lang="en-US" sz="1550" dirty="0">
              <a:solidFill>
                <a:srgbClr val="234DE7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51943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>
                <a:solidFill>
                  <a:srgbClr val="334155"/>
                </a:solidFill>
                <a:latin typeface="Arial" panose="020B0604020202020204" pitchFamily="34" charset="0"/>
              </a:rPr>
              <a:t>Анатолий Музеник</a:t>
            </a:r>
            <a:endParaRPr lang="en-US" sz="16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anose="020B0604020202020204" pitchFamily="34" charset="0"/>
              </a:rPr>
              <a:t>Founder / Product Owner AUQNI</a:t>
            </a:r>
          </a:p>
        </p:txBody>
      </p:sp>
      <p:sp>
        <p:nvSpPr>
          <p:cNvPr id="9" name="Shape 7"/>
          <p:cNvSpPr/>
          <p:nvPr/>
        </p:nvSpPr>
        <p:spPr>
          <a:xfrm>
            <a:off x="7452360" y="658368"/>
            <a:ext cx="3749040" cy="5394960"/>
          </a:xfrm>
          <a:prstGeom prst="roundRect">
            <a:avLst/>
          </a:prstGeom>
          <a:solidFill>
            <a:srgbClr val="FFFFFF"/>
          </a:solidFill>
          <a:ln w="1397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50800" dir="2700000" algn="bl" rotWithShape="0">
              <a:srgbClr val="9AA8BA">
                <a:alpha val="16000"/>
              </a:srgbClr>
            </a:outerShdw>
          </a:effectLst>
        </p:spPr>
      </p:sp>
      <p:pic>
        <p:nvPicPr>
          <p:cNvPr id="10" name="Image 0" descr="/mnt/data/02_pult-generated-p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016" y="713232"/>
            <a:ext cx="2855168" cy="52852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83961" y="5384323"/>
            <a:ext cx="1920240" cy="713232"/>
          </a:xfrm>
          <a:prstGeom prst="roundRect">
            <a:avLst/>
          </a:prstGeom>
          <a:solidFill>
            <a:srgbClr val="0D1644"/>
          </a:solidFill>
          <a:ln w="12700">
            <a:solidFill>
              <a:srgbClr val="0D16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0817" y="5230368"/>
            <a:ext cx="3646528" cy="102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Работает на HSHP</a:t>
            </a:r>
            <a:endParaRPr lang="en-US" sz="135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24/7</a:t>
            </a:r>
            <a:endParaRPr lang="en-US" sz="13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1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20000"/>
            <a:ext cx="850000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D1644"/>
                </a:solidFill>
                <a:latin typeface="Arial"/>
              </a:rPr>
              <a:t>AUQNI: SaaS-платформа для управления качеством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20000"/>
            <a:ext cx="10400000" cy="47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Контент-завод — часть экосистемы AUQNI и инструмент системной профессиональной коммуникации вокруг продукта.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0" y="510000"/>
            <a:ext cx="2400000" cy="5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4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4DE7"/>
                </a:solidFill>
                <a:latin typeface="Arial"/>
              </a:rPr>
              <a:t>Первый фокус: медицина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000"/>
            <a:ext cx="3520440" cy="2450000"/>
          </a:xfrm>
          <a:prstGeom prst="roundRect">
            <a:avLst/>
          </a:prstGeom>
          <a:solidFill>
            <a:srgbClr val="FFFFFF"/>
          </a:solidFill>
          <a:ln>
            <a:solidFill>
              <a:srgbClr val="D8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080" y="1990000"/>
            <a:ext cx="60000" cy="2310000"/>
          </a:xfrm>
          <a:prstGeom prst="rect">
            <a:avLst/>
          </a:prstGeom>
          <a:solidFill>
            <a:srgbClr val="234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0080" y="2140000"/>
            <a:ext cx="480000" cy="480000"/>
          </a:xfrm>
          <a:prstGeom prst="ellipse">
            <a:avLst/>
          </a:prstGeom>
          <a:solidFill>
            <a:srgbClr val="234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080" y="2740000"/>
            <a:ext cx="302044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0D1644"/>
                </a:solidFill>
                <a:latin typeface="Arial"/>
              </a:rPr>
              <a:t>События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80" y="3240000"/>
            <a:ext cx="302044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rial"/>
              </a:rPr>
              <a:t>Наблюдения, риски, идеи и нежелательные события → классификация → карточка в реестре.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920000"/>
            <a:ext cx="3520440" cy="2450000"/>
          </a:xfrm>
          <a:prstGeom prst="roundRect">
            <a:avLst/>
          </a:prstGeom>
          <a:solidFill>
            <a:srgbClr val="FFFFFF"/>
          </a:solidFill>
          <a:ln>
            <a:solidFill>
              <a:srgbClr val="D8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4256" y="1990000"/>
            <a:ext cx="60000" cy="2310000"/>
          </a:xfrm>
          <a:prstGeom prst="rect">
            <a:avLst/>
          </a:prstGeom>
          <a:solidFill>
            <a:srgbClr val="5A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4256" y="2140000"/>
            <a:ext cx="480000" cy="480000"/>
          </a:xfrm>
          <a:prstGeom prst="ellipse">
            <a:avLst/>
          </a:prstGeom>
          <a:solidFill>
            <a:srgbClr val="5A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644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256" y="2740000"/>
            <a:ext cx="302044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0D1644"/>
                </a:solidFill>
                <a:latin typeface="Arial"/>
              </a:rPr>
              <a:t>Внутренние аудиты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256" y="3240000"/>
            <a:ext cx="302044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rial"/>
              </a:rPr>
              <a:t>Аудиты по собственным чек-листам и НИК Росздравнадзора; результаты, доказательства и история проверки.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920000"/>
            <a:ext cx="3520440" cy="2450000"/>
          </a:xfrm>
          <a:prstGeom prst="roundRect">
            <a:avLst/>
          </a:prstGeom>
          <a:solidFill>
            <a:srgbClr val="FFFFFF"/>
          </a:solidFill>
          <a:ln>
            <a:solidFill>
              <a:srgbClr val="D8D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432" y="1990000"/>
            <a:ext cx="60000" cy="2310000"/>
          </a:xfrm>
          <a:prstGeom prst="rect">
            <a:avLst/>
          </a:prstGeom>
          <a:solidFill>
            <a:srgbClr val="0D1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8432" y="2140000"/>
            <a:ext cx="480000" cy="480000"/>
          </a:xfrm>
          <a:prstGeom prst="ellipse">
            <a:avLst/>
          </a:prstGeom>
          <a:solidFill>
            <a:srgbClr val="0D1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432" y="2740000"/>
            <a:ext cx="302044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900" b="1">
                <a:solidFill>
                  <a:srgbClr val="0D1644"/>
                </a:solidFill>
                <a:latin typeface="Arial"/>
              </a:rPr>
              <a:t>Улучшения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432" y="3240000"/>
            <a:ext cx="302044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Arial"/>
              </a:rPr>
              <a:t>События и аудиты превращаются в данные для решений, корректирующих действий и проверки результативности.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0000" y="4800000"/>
            <a:ext cx="9800000" cy="900000"/>
          </a:xfrm>
          <a:prstGeom prst="roundRect">
            <a:avLst/>
          </a:prstGeom>
          <a:solidFill>
            <a:srgbClr val="0D1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События → данные → решения → улучшения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940000"/>
            <a:ext cx="8600000" cy="43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AUQNI помогает накапливать доказательства работы СМК и превращать повседневные события и аудиты в управляемые изменения.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000" y="5880000"/>
            <a:ext cx="1480000" cy="4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Задача: сделать экспертный контент системным</a:t>
            </a:r>
          </a:p>
        </p:txBody>
      </p:sp>
      <p:sp>
        <p:nvSpPr>
          <p:cNvPr id="3" name="Text 1"/>
          <p:cNvSpPr/>
          <p:nvPr/>
        </p:nvSpPr>
        <p:spPr>
          <a:xfrm>
            <a:off x="603504" y="1115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anose="020B0604020202020204" pitchFamily="34" charset="0"/>
              </a:rPr>
              <a:t>Не просто сгенерировать пост, а управлять всем циклом — от идеи до подтверждённой публикации.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B7C2D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83080"/>
            <a:ext cx="54864" cy="1965960"/>
          </a:xfrm>
          <a:prstGeom prst="rect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0195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</a:rPr>
              <a:t>Контент требует времени</a:t>
            </a:r>
            <a:endParaRPr lang="en-US" sz="17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2359152"/>
            <a:ext cx="317296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anose="020B0604020202020204" pitchFamily="34" charset="0"/>
              </a:rPr>
              <a:t>Нужно находить темы, проверять источники, готовить текст и визуал, вести календарь и не терять версии.</a:t>
            </a:r>
          </a:p>
        </p:txBody>
      </p:sp>
      <p:sp>
        <p:nvSpPr>
          <p:cNvPr id="8" name="Shape 6"/>
          <p:cNvSpPr/>
          <p:nvPr/>
        </p:nvSpPr>
        <p:spPr>
          <a:xfrm>
            <a:off x="4334256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B7C2D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783080"/>
            <a:ext cx="54864" cy="1965960"/>
          </a:xfrm>
          <a:prstGeom prst="rect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90195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</a:rPr>
              <a:t>Ручной процесс фрагментирован</a:t>
            </a:r>
            <a:endParaRPr lang="en-US" sz="17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53712" y="2359152"/>
            <a:ext cx="317296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anose="020B0604020202020204" pitchFamily="34" charset="0"/>
              </a:rPr>
              <a:t>Идеи, черновики, даты и правки быстро расходятся по разным чатам и файлам.</a:t>
            </a:r>
          </a:p>
        </p:txBody>
      </p:sp>
      <p:sp>
        <p:nvSpPr>
          <p:cNvPr id="12" name="Shape 10"/>
          <p:cNvSpPr/>
          <p:nvPr/>
        </p:nvSpPr>
        <p:spPr>
          <a:xfrm>
            <a:off x="8028432" y="173736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B7C2D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5864" y="1783080"/>
            <a:ext cx="54864" cy="1965960"/>
          </a:xfrm>
          <a:prstGeom prst="rect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90195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</a:rPr>
              <a:t>Полная автономия нежелательна</a:t>
            </a:r>
            <a:endParaRPr lang="en-US" sz="17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7888" y="2359152"/>
            <a:ext cx="317296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rial" panose="020B0604020202020204" pitchFamily="34" charset="0"/>
              </a:rPr>
              <a:t>Для профессионального контента нужен контроль фактов и явное решение человека перед публикацией.</a:t>
            </a:r>
          </a:p>
        </p:txBody>
      </p:sp>
      <p:sp>
        <p:nvSpPr>
          <p:cNvPr id="16" name="Shape 14"/>
          <p:cNvSpPr/>
          <p:nvPr/>
        </p:nvSpPr>
        <p:spPr>
          <a:xfrm>
            <a:off x="1051560" y="4434840"/>
            <a:ext cx="10058400" cy="1143000"/>
          </a:xfrm>
          <a:prstGeom prst="roundRect">
            <a:avLst/>
          </a:prstGeom>
          <a:solidFill>
            <a:srgbClr val="F5F5FC"/>
          </a:solidFill>
          <a:ln w="15240">
            <a:solidFill>
              <a:srgbClr val="F5F5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  <a:latin typeface="Arial" panose="020B0604020202020204" pitchFamily="34" charset="0"/>
              </a:rPr>
              <a:t>Решение</a:t>
            </a:r>
            <a:endParaRPr lang="en-US" sz="15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68880" y="457200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</a:rPr>
              <a:t>Серверный контент-конвейер, который работает постоянно, но публичную отправку конкретной версии выполняет только после статуса «Принято».</a:t>
            </a:r>
            <a:endParaRPr lang="en-US" sz="17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Как работает Контент-завод</a:t>
            </a:r>
          </a:p>
        </p:txBody>
      </p:sp>
      <p:sp>
        <p:nvSpPr>
          <p:cNvPr id="3" name="Text 1"/>
          <p:cNvSpPr/>
          <p:nvPr/>
        </p:nvSpPr>
        <p:spPr>
          <a:xfrm>
            <a:off x="603504" y="1115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anose="020B0604020202020204" pitchFamily="34" charset="0"/>
              </a:rPr>
              <a:t>Пользователь управляет процессом через Telegram-Пульт; специализированные агенты выполняют отдельные роли.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508760" cy="233172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rial" panose="020B0604020202020204" pitchFamily="34" charset="0"/>
              </a:rPr>
              <a:t>Тема / идея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Текст, голос, файл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или идея из банка</a:t>
            </a:r>
          </a:p>
        </p:txBody>
      </p:sp>
      <p:sp>
        <p:nvSpPr>
          <p:cNvPr id="9" name="Shape 7"/>
          <p:cNvSpPr/>
          <p:nvPr/>
        </p:nvSpPr>
        <p:spPr>
          <a:xfrm>
            <a:off x="2057400" y="2779776"/>
            <a:ext cx="310896" cy="402336"/>
          </a:xfrm>
          <a:prstGeom prst="chevron">
            <a:avLst/>
          </a:prstGeom>
          <a:solidFill>
            <a:srgbClr val="F5F5FC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1874520"/>
            <a:ext cx="1508760" cy="233172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78608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rial" panose="020B0604020202020204" pitchFamily="34" charset="0"/>
              </a:rPr>
              <a:t>План + источники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0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Контент-план, НИК,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PubMed, ВОЗ</a:t>
            </a:r>
          </a:p>
        </p:txBody>
      </p:sp>
      <p:sp>
        <p:nvSpPr>
          <p:cNvPr id="15" name="Shape 13"/>
          <p:cNvSpPr/>
          <p:nvPr/>
        </p:nvSpPr>
        <p:spPr>
          <a:xfrm>
            <a:off x="3995928" y="2779776"/>
            <a:ext cx="310896" cy="402336"/>
          </a:xfrm>
          <a:prstGeom prst="chevron">
            <a:avLst/>
          </a:prstGeom>
          <a:solidFill>
            <a:srgbClr val="F5F5FC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874520"/>
            <a:ext cx="1508760" cy="233172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17136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rial" panose="020B0604020202020204" pitchFamily="34" charset="0"/>
              </a:rPr>
              <a:t>AI-агенты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98848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Orchestrator → Writer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→ Image Agent</a:t>
            </a:r>
          </a:p>
        </p:txBody>
      </p:sp>
      <p:sp>
        <p:nvSpPr>
          <p:cNvPr id="21" name="Shape 19"/>
          <p:cNvSpPr/>
          <p:nvPr/>
        </p:nvSpPr>
        <p:spPr>
          <a:xfrm>
            <a:off x="5934456" y="2779776"/>
            <a:ext cx="310896" cy="402336"/>
          </a:xfrm>
          <a:prstGeom prst="chevron">
            <a:avLst/>
          </a:prstGeom>
          <a:solidFill>
            <a:srgbClr val="F5F5FC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18504" y="1874520"/>
            <a:ext cx="1508760" cy="233172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55664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rial" panose="020B0604020202020204" pitchFamily="34" charset="0"/>
              </a:rPr>
              <a:t>Версия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37376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Текст + визуал +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№ публикации</a:t>
            </a:r>
          </a:p>
        </p:txBody>
      </p:sp>
      <p:sp>
        <p:nvSpPr>
          <p:cNvPr id="27" name="Shape 25"/>
          <p:cNvSpPr/>
          <p:nvPr/>
        </p:nvSpPr>
        <p:spPr>
          <a:xfrm>
            <a:off x="7872984" y="2779776"/>
            <a:ext cx="310896" cy="402336"/>
          </a:xfrm>
          <a:prstGeom prst="chevron">
            <a:avLst/>
          </a:prstGeom>
          <a:solidFill>
            <a:srgbClr val="F5F5FC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57032" y="1874520"/>
            <a:ext cx="1508760" cy="2331720"/>
          </a:xfrm>
          <a:prstGeom prst="roundRect">
            <a:avLst/>
          </a:prstGeom>
          <a:solidFill>
            <a:srgbClr val="F5F5FC"/>
          </a:solidFill>
          <a:ln w="15240" cap="flat" cmpd="sng" algn="ctr">
            <a:solidFill>
              <a:srgbClr val="234DE7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59952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9952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94192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644"/>
                </a:solidFill>
                <a:latin typeface="Arial" panose="020B0604020202020204" pitchFamily="34" charset="0"/>
              </a:rPr>
              <a:t>Принято</a:t>
            </a:r>
            <a:endParaRPr lang="en-US" sz="1400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5904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Проверка и решение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владельца</a:t>
            </a:r>
          </a:p>
        </p:txBody>
      </p:sp>
      <p:sp>
        <p:nvSpPr>
          <p:cNvPr id="33" name="Shape 31"/>
          <p:cNvSpPr/>
          <p:nvPr/>
        </p:nvSpPr>
        <p:spPr>
          <a:xfrm>
            <a:off x="9811512" y="2779776"/>
            <a:ext cx="310896" cy="402336"/>
          </a:xfrm>
          <a:prstGeom prst="chevron">
            <a:avLst/>
          </a:prstGeom>
          <a:solidFill>
            <a:srgbClr val="F5F5FC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95560" y="1874520"/>
            <a:ext cx="1508760" cy="233172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50800" dir="2700000" algn="bl" rotWithShape="0">
              <a:srgbClr val="C4CFDC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98480" y="2084832"/>
            <a:ext cx="502920" cy="502920"/>
          </a:xfrm>
          <a:prstGeom prst="ellipse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0" y="21854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endParaRPr lang="en-US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332720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rial" panose="020B0604020202020204" pitchFamily="34" charset="0"/>
              </a:rPr>
              <a:t>Публикация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314432" y="3291840"/>
            <a:ext cx="1271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Telegram сейчас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</a:rPr>
              <a:t>или по расписанию</a:t>
            </a:r>
          </a:p>
        </p:txBody>
      </p:sp>
      <p:sp>
        <p:nvSpPr>
          <p:cNvPr id="39" name="Shape 37"/>
          <p:cNvSpPr/>
          <p:nvPr/>
        </p:nvSpPr>
        <p:spPr>
          <a:xfrm>
            <a:off x="2743200" y="4736592"/>
            <a:ext cx="6720840" cy="932688"/>
          </a:xfrm>
          <a:prstGeom prst="roundRect">
            <a:avLst/>
          </a:prstGeom>
          <a:solidFill>
            <a:srgbClr val="0D1644"/>
          </a:solidFill>
          <a:ln w="12700">
            <a:solidFill>
              <a:srgbClr val="0D16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495604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</a:rPr>
              <a:t>Human-in-the-loop: изменение версии или даты снимает прежнее «Принято».</a:t>
            </a:r>
            <a:endParaRPr lang="en-US" sz="145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</a:rPr>
              <a:t>В канал уходит только текущая согласованная версия.</a:t>
            </a:r>
            <a:endParaRPr lang="en-US" sz="145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2600"/>
            <a:ext cx="96520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Единая серверная среда: iPhone и </a:t>
            </a:r>
            <a:r>
              <a:rPr lang="en-US" sz="2700" b="1" dirty="0" err="1">
                <a:solidFill>
                  <a:srgbClr val="0D1644"/>
                </a:solidFill>
                <a:latin typeface="Arial" panose="020B0604020202020204" pitchFamily="34" charset="0"/>
              </a:rPr>
              <a:t>ноутбук</a:t>
            </a: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 </a:t>
            </a:r>
            <a:r>
              <a:rPr lang="en-US" sz="2700" b="1" dirty="0" err="1">
                <a:solidFill>
                  <a:srgbClr val="0D1644"/>
                </a:solidFill>
                <a:latin typeface="Arial" panose="020B0604020202020204" pitchFamily="34" charset="0"/>
              </a:rPr>
              <a:t>работают</a:t>
            </a:r>
            <a:br>
              <a:rPr lang="ru-RU" sz="2700" b="1" dirty="0">
                <a:solidFill>
                  <a:srgbClr val="0D1644"/>
                </a:solidFill>
                <a:latin typeface="Arial" panose="020B0604020202020204" pitchFamily="34" charset="0"/>
              </a:rPr>
            </a:b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с одним проектом</a:t>
            </a:r>
          </a:p>
        </p:txBody>
      </p:sp>
      <p:sp>
        <p:nvSpPr>
          <p:cNvPr id="3" name="Text 1"/>
          <p:cNvSpPr/>
          <p:nvPr/>
        </p:nvSpPr>
        <p:spPr>
          <a:xfrm>
            <a:off x="603504" y="1371600"/>
            <a:ext cx="1042416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anose="020B0604020202020204" pitchFamily="34" charset="0"/>
              </a:rPr>
              <a:t>Контент-завод размещён на HSHP и работает независимо от включённого ноутбука.</a:t>
            </a:r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2788920" cy="3401568"/>
          </a:xfrm>
          <a:prstGeom prst="roundRect">
            <a:avLst/>
          </a:prstGeom>
          <a:solidFill>
            <a:srgbClr val="F5F5FC"/>
          </a:solidFill>
          <a:ln w="17780" cap="flat" cmpd="sng" algn="ctr">
            <a:solidFill>
              <a:srgbClr val="234DE7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Text 3"/>
          <p:cNvSpPr/>
          <p:nvPr/>
        </p:nvSpPr>
        <p:spPr>
          <a:xfrm>
            <a:off x="5093208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HSHP</a:t>
            </a:r>
            <a:endParaRPr lang="en-US" sz="2700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0" y="2616200"/>
            <a:ext cx="1600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34DE7"/>
                </a:solidFill>
                <a:latin typeface="Arial" panose="020B0604020202020204" pitchFamily="34" charset="0"/>
              </a:rPr>
              <a:t>Ubuntu 24.04</a:t>
            </a:r>
            <a:endParaRPr lang="en-US" sz="2000" b="1" dirty="0">
              <a:solidFill>
                <a:srgbClr val="234DE7"/>
              </a:solidFill>
              <a:latin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66360" y="3273552"/>
            <a:ext cx="1847088" cy="0"/>
          </a:xfrm>
          <a:prstGeom prst="line">
            <a:avLst/>
          </a:prstGeom>
          <a:noFill/>
          <a:ln w="15240" cap="flat" cmpd="sng" algn="ctr">
            <a:solidFill>
              <a:srgbClr val="F5F5FC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" name="Text 6"/>
          <p:cNvSpPr/>
          <p:nvPr/>
        </p:nvSpPr>
        <p:spPr>
          <a:xfrm>
            <a:off x="4851400" y="3505200"/>
            <a:ext cx="2514600" cy="1168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334155"/>
                </a:solidFill>
                <a:latin typeface="Arial" panose="020B0604020202020204" pitchFamily="34" charset="0"/>
              </a:rPr>
              <a:t>Telegram-</a:t>
            </a:r>
            <a:r>
              <a:rPr lang="ru-RU" sz="1600">
                <a:solidFill>
                  <a:srgbClr val="334155"/>
                </a:solidFill>
                <a:latin typeface="Arial" panose="020B0604020202020204" pitchFamily="34" charset="0"/>
              </a:rPr>
              <a:t>Пульт · </a:t>
            </a:r>
            <a:r>
              <a:rPr lang="en-US" sz="1600">
                <a:solidFill>
                  <a:srgbClr val="334155"/>
                </a:solidFill>
                <a:latin typeface="Arial" panose="020B0604020202020204" pitchFamily="34" charset="0"/>
              </a:rPr>
              <a:t>SQLite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334155"/>
                </a:solidFill>
                <a:latin typeface="Arial" panose="020B0604020202020204" pitchFamily="34" charset="0"/>
              </a:rPr>
              <a:t>Codex CLI · </a:t>
            </a:r>
            <a:r>
              <a:rPr lang="ru-RU" sz="1600">
                <a:solidFill>
                  <a:srgbClr val="334155"/>
                </a:solidFill>
                <a:latin typeface="Arial" panose="020B0604020202020204" pitchFamily="34" charset="0"/>
              </a:rPr>
              <a:t>агенты · </a:t>
            </a:r>
            <a:r>
              <a:rPr lang="en-US" sz="1600">
                <a:solidFill>
                  <a:srgbClr val="334155"/>
                </a:solidFill>
                <a:latin typeface="Arial" panose="020B0604020202020204" pitchFamily="34" charset="0"/>
              </a:rPr>
              <a:t>Publisher</a:t>
            </a:r>
            <a:endParaRPr lang="en-US" sz="16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3456432" cy="3516708"/>
          </a:xfrm>
          <a:prstGeom prst="roundRect">
            <a:avLst/>
          </a:prstGeom>
          <a:solidFill>
            <a:srgbClr val="FFFFFF"/>
          </a:solidFill>
          <a:ln w="1397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50800" dir="2700000" algn="bl" rotWithShape="0">
              <a:srgbClr val="9AA8BA">
                <a:alpha val="16000"/>
              </a:srgbClr>
            </a:outerShdw>
          </a:effectLst>
        </p:spPr>
      </p:sp>
      <p:pic>
        <p:nvPicPr>
          <p:cNvPr id="10" name="Image 0" descr="/mnt/data/01_t3-code-auqni-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67" y="1837944"/>
            <a:ext cx="1841241" cy="33197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2468" y="54777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644"/>
                </a:solidFill>
                <a:latin typeface="Arial" panose="020B0604020202020204" pitchFamily="34" charset="0"/>
              </a:rPr>
              <a:t>iPhone → T3 Code → HSHP</a:t>
            </a:r>
            <a:endParaRPr lang="en-US" sz="1500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92440" y="2057400"/>
            <a:ext cx="3246120" cy="1874520"/>
          </a:xfrm>
          <a:prstGeom prst="roundRect">
            <a:avLst/>
          </a:prstGeom>
          <a:solidFill>
            <a:srgbClr val="0D1644"/>
          </a:solidFill>
          <a:ln w="17780">
            <a:solidFill>
              <a:srgbClr val="0D16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66760" y="2304288"/>
            <a:ext cx="2697480" cy="1298448"/>
          </a:xfrm>
          <a:prstGeom prst="rect">
            <a:avLst/>
          </a:prstGeom>
          <a:solidFill>
            <a:srgbClr val="0D1644"/>
          </a:solidFill>
          <a:ln w="12700">
            <a:solidFill>
              <a:srgbClr val="0D16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25786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20204" pitchFamily="34" charset="0"/>
              </a:rPr>
              <a:t>VS Code</a:t>
            </a:r>
            <a:endParaRPr lang="en-US" sz="21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20204" pitchFamily="34" charset="0"/>
              </a:rPr>
              <a:t>Remote SSH</a:t>
            </a:r>
            <a:endParaRPr lang="en-US" sz="21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818120" y="3913632"/>
            <a:ext cx="3794760" cy="320040"/>
          </a:xfrm>
          <a:prstGeom prst="trapezoid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23200" y="4330700"/>
            <a:ext cx="3810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644"/>
                </a:solidFill>
                <a:latin typeface="Arial" panose="020B0604020202020204" pitchFamily="34" charset="0"/>
              </a:rPr>
              <a:t>HSHP ← VS Code Remote SSH ← </a:t>
            </a:r>
            <a:r>
              <a:rPr lang="ru-RU" sz="1400" b="1">
                <a:solidFill>
                  <a:srgbClr val="0D1644"/>
                </a:solidFill>
                <a:latin typeface="Arial" panose="020B0604020202020204" pitchFamily="34" charset="0"/>
              </a:rPr>
              <a:t>ноутбук</a:t>
            </a:r>
            <a:endParaRPr lang="en-US" sz="1400" b="1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06240" y="2834640"/>
            <a:ext cx="411480" cy="502920"/>
          </a:xfrm>
          <a:prstGeom prst="chevron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10800000">
            <a:off x="7543800" y="2834640"/>
            <a:ext cx="411480" cy="502920"/>
          </a:xfrm>
          <a:prstGeom prst="chevron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7500" y="5651500"/>
            <a:ext cx="647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900" b="1">
                <a:solidFill>
                  <a:srgbClr val="0D1644"/>
                </a:solidFill>
                <a:latin typeface="Arial" panose="020B0604020202020204" pitchFamily="34" charset="0"/>
              </a:rPr>
              <a:t>Одна серверная версия проекта</a:t>
            </a:r>
            <a:endParaRPr lang="en-US" sz="1900" b="1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82600"/>
            <a:ext cx="984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644"/>
                </a:solidFill>
                <a:latin typeface="Arial" panose="020B0604020202020204" pitchFamily="34" charset="0"/>
              </a:rPr>
              <a:t>Живая демонстрация: версия проходит через Пульт до «Принято»</a:t>
            </a:r>
          </a:p>
        </p:txBody>
      </p:sp>
      <p:sp>
        <p:nvSpPr>
          <p:cNvPr id="3" name="Text 1"/>
          <p:cNvSpPr/>
          <p:nvPr/>
        </p:nvSpPr>
        <p:spPr>
          <a:xfrm>
            <a:off x="603504" y="1371600"/>
            <a:ext cx="1042416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anose="020B0604020202020204" pitchFamily="34" charset="0"/>
              </a:rPr>
              <a:t>Скриншоты из рабочей системы, используемой для реального канала AUQNI.</a:t>
            </a:r>
          </a:p>
        </p:txBody>
      </p:sp>
      <p:sp>
        <p:nvSpPr>
          <p:cNvPr id="4" name="Shape 2"/>
          <p:cNvSpPr/>
          <p:nvPr/>
        </p:nvSpPr>
        <p:spPr>
          <a:xfrm>
            <a:off x="697744" y="1713629"/>
            <a:ext cx="4434840" cy="4498848"/>
          </a:xfrm>
          <a:prstGeom prst="roundRect">
            <a:avLst/>
          </a:prstGeom>
          <a:solidFill>
            <a:srgbClr val="FFFFFF"/>
          </a:solidFill>
          <a:ln w="1397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50800" dir="2700000" algn="bl" rotWithShape="0">
              <a:srgbClr val="9AA8BA">
                <a:alpha val="16000"/>
              </a:srgbClr>
            </a:outerShdw>
          </a:effectLst>
        </p:spPr>
      </p:sp>
      <p:pic>
        <p:nvPicPr>
          <p:cNvPr id="5" name="Image 0" descr="/mnt/data/02_pult-generated-p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3" y="1694097"/>
            <a:ext cx="2635401" cy="44627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67728" y="1600200"/>
            <a:ext cx="4434840" cy="4498848"/>
          </a:xfrm>
          <a:prstGeom prst="roundRect">
            <a:avLst/>
          </a:prstGeom>
          <a:solidFill>
            <a:srgbClr val="FFFFFF"/>
          </a:solidFill>
          <a:ln w="13970" cap="flat" cmpd="sng" algn="ctr">
            <a:solidFill>
              <a:srgbClr val="234DE7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50800" dir="2700000" algn="bl" rotWithShape="0">
              <a:srgbClr val="9AA8BA">
                <a:alpha val="16000"/>
              </a:srgbClr>
            </a:outerShdw>
          </a:effectLst>
        </p:spPr>
      </p:sp>
      <p:pic>
        <p:nvPicPr>
          <p:cNvPr id="7" name="Image 1" descr="/mnt/data/03_pult-approved-po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257" y="1600200"/>
            <a:ext cx="2526233" cy="4389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41848" y="3401568"/>
            <a:ext cx="658368" cy="731520"/>
          </a:xfrm>
          <a:prstGeom prst="chevron">
            <a:avLst/>
          </a:prstGeom>
          <a:solidFill>
            <a:srgbClr val="234DE7"/>
          </a:solidFill>
          <a:ln w="12700">
            <a:solidFill>
              <a:srgbClr val="234D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56816" y="6181344"/>
            <a:ext cx="2011680" cy="39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4DE7"/>
                </a:solidFill>
                <a:latin typeface="Arial" panose="020B0604020202020204" pitchFamily="34" charset="0"/>
              </a:rPr>
              <a:t>Подготовлено</a:t>
            </a:r>
          </a:p>
        </p:txBody>
      </p:sp>
      <p:sp>
        <p:nvSpPr>
          <p:cNvPr id="10" name="Text 6"/>
          <p:cNvSpPr/>
          <p:nvPr/>
        </p:nvSpPr>
        <p:spPr>
          <a:xfrm>
            <a:off x="8357616" y="5925312"/>
            <a:ext cx="1645920" cy="65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4DE7"/>
                </a:solidFill>
                <a:latin typeface="Arial" panose="020B0604020202020204" pitchFamily="34" charset="0"/>
              </a:rPr>
              <a:t>Принято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0" y="1600200"/>
            <a:ext cx="622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800" b="1">
                <a:solidFill>
                  <a:srgbClr val="0D1644"/>
                </a:solidFill>
                <a:latin typeface="Arial" panose="020B0604020202020204" pitchFamily="34" charset="0"/>
              </a:rPr>
              <a:t>Благодарю за внимание</a:t>
            </a:r>
            <a:endParaRPr lang="en-US" sz="3800" b="1" dirty="0">
              <a:solidFill>
                <a:srgbClr val="0D1644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500" y="2921000"/>
            <a:ext cx="609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>
                <a:solidFill>
                  <a:srgbClr val="334155"/>
                </a:solidFill>
                <a:latin typeface="Arial" panose="020B0604020202020204" pitchFamily="34" charset="0"/>
              </a:rPr>
              <a:t>Контент-завод AUQNI · итоговый проект курса Зерокодер</a:t>
            </a:r>
            <a:endParaRPr lang="en-US" sz="17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pic>
        <p:nvPicPr>
          <p:cNvPr id="5" name="Image 0" descr="/mnt/data/04_telegram-published-post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272" y="761857"/>
            <a:ext cx="3668227" cy="5813113"/>
          </a:xfrm>
          <a:prstGeom prst="rect">
            <a:avLst/>
          </a:prstGeom>
        </p:spPr>
      </p:pic>
      <p:sp>
        <p:nvSpPr>
          <p:cNvPr id="19" name="Text 16">
            <a:hlinkClick r:id="rId4"/>
          </p:cNvPr>
          <p:cNvSpPr/>
          <p:nvPr/>
        </p:nvSpPr>
        <p:spPr>
          <a:xfrm>
            <a:off x="698500" y="4254500"/>
            <a:ext cx="64770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>
                <a:solidFill>
                  <a:srgbClr val="234DE7"/>
                </a:solidFill>
                <a:latin typeface="Arial" panose="020B0604020202020204" pitchFamily="34" charset="0"/>
              </a:rPr>
              <a:t>github.com/anatolymuzenik-ops/auqni-content-factory</a:t>
            </a:r>
            <a:endParaRPr lang="en-US" sz="1600" b="1" dirty="0">
              <a:solidFill>
                <a:srgbClr val="234DE7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8500" y="50927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>
                <a:solidFill>
                  <a:srgbClr val="334155"/>
                </a:solidFill>
                <a:latin typeface="Arial" panose="020B0604020202020204" pitchFamily="34" charset="0"/>
              </a:rPr>
              <a:t>Проект работает 24/7 на HSHP. Реальная публикация через Пульт выполнена.</a:t>
            </a:r>
            <a:endParaRPr lang="en-US" sz="1400" dirty="0">
              <a:solidFill>
                <a:srgbClr val="334155"/>
              </a:solidFill>
              <a:latin typeface="Arial" panose="020B060402020202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98A8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21" name="AUQNI website">
            <a:hlinkClick r:id="rId5"/>
            <a:extLst>
              <a:ext uri="{FF2B5EF4-FFF2-40B4-BE49-F238E27FC236}">
                <a16:creationId xmlns:a16="http://schemas.microsoft.com/office/drawing/2014/main" id="{4E50FCE4-D390-4D40-9BA6-398CBD828B2B}"/>
              </a:ext>
            </a:extLst>
          </p:cNvPr>
          <p:cNvSpPr txBox="1"/>
          <p:nvPr/>
        </p:nvSpPr>
        <p:spPr>
          <a:xfrm>
            <a:off x="698500" y="3733800"/>
            <a:ext cx="381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234DE7"/>
                </a:solidFill>
                <a:latin typeface="Arial" panose="020B0604020202020204" pitchFamily="34" charset="0"/>
              </a:rPr>
              <a:t>auqni.ru</a:t>
            </a:r>
            <a:endParaRPr lang="ru-RU" sz="1900" b="1">
              <a:solidFill>
                <a:srgbClr val="234DE7"/>
              </a:solidFill>
              <a:latin typeface="Arial" panose="020B0604020202020204" pitchFamily="34" charset="0"/>
            </a:endParaRPr>
          </a:p>
        </p:txBody>
      </p:sp>
      <p:sp>
        <p:nvSpPr>
          <p:cNvPr id="22" name="AUQNI top stripe">
            <a:extLst>
              <a:ext uri="{FF2B5EF4-FFF2-40B4-BE49-F238E27FC236}">
                <a16:creationId xmlns:a16="http://schemas.microsoft.com/office/drawing/2014/main" id="{0536E215-39E1-4CC0-8AA3-6F7887C7E57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4D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AUQNI final logo">
            <a:extLst>
              <a:ext uri="{FF2B5EF4-FFF2-40B4-BE49-F238E27FC236}">
                <a16:creationId xmlns:a16="http://schemas.microsoft.com/office/drawing/2014/main" id="{BA7D05A2-FF47-4657-8826-31357FA17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9200" y="203200"/>
            <a:ext cx="1536700" cy="431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348</Words>
  <Application>Microsoft Office PowerPoint</Application>
  <PresentationFormat>Широкоэкранный</PresentationFormat>
  <Paragraphs>78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AUQNI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Контент-завод AUQNI</dc:title>
  <dc:subject>Итоговый проект курса «Зерокодер»</dc:subject>
  <dc:creator>Анатолий Музеник</dc:creator>
  <cp:lastModifiedBy>Анатолий Музеник</cp:lastModifiedBy>
  <cp:revision>3</cp:revision>
  <dcterms:created xsi:type="dcterms:W3CDTF">2026-10-01T15:32:06Z</dcterms:created>
  <dcterms:modified xsi:type="dcterms:W3CDTF">2026-10-01T16:58:42Z</dcterms:modified>
</cp:coreProperties>
</file>